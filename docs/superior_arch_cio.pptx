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9456" y="128016"/>
            <a:ext cx="845454" cy="274320"/>
          </a:xfrm>
          <a:prstGeom prst="roundRect">
            <a:avLst>
              <a:gd name="adj" fmla="val 13333"/>
            </a:avLst>
          </a:prstGeom>
          <a:solidFill>
            <a:srgbClr val="FFC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2926" y="128016"/>
            <a:ext cx="9144" cy="274320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9456" y="715061"/>
            <a:ext cx="457200" cy="27432"/>
          </a:xfrm>
          <a:prstGeom prst="roundRect">
            <a:avLst>
              <a:gd name="adj" fmla="val 50000"/>
            </a:avLst>
          </a:prstGeom>
          <a:solidFill>
            <a:srgbClr val="FFC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9456" y="852221"/>
            <a:ext cx="11750040" cy="5715732"/>
          </a:xfrm>
          <a:prstGeom prst="roundRect">
            <a:avLst>
              <a:gd name="adj" fmla="val 1119"/>
            </a:avLst>
          </a:prstGeom>
          <a:noFill/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" y="865937"/>
            <a:ext cx="1444752" cy="949056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9364" y="1140074"/>
            <a:ext cx="2207179" cy="400690"/>
          </a:xfrm>
          <a:prstGeom prst="roundRect">
            <a:avLst>
              <a:gd name="adj" fmla="val 1141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2263" y="1140074"/>
            <a:ext cx="2207179" cy="400690"/>
          </a:xfrm>
          <a:prstGeom prst="roundRect">
            <a:avLst>
              <a:gd name="adj" fmla="val 1141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5070" y="1140074"/>
            <a:ext cx="2207179" cy="400690"/>
          </a:xfrm>
          <a:prstGeom prst="roundRect">
            <a:avLst>
              <a:gd name="adj" fmla="val 1141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27969" y="1140074"/>
            <a:ext cx="2207179" cy="400690"/>
          </a:xfrm>
          <a:prstGeom prst="roundRect">
            <a:avLst>
              <a:gd name="adj" fmla="val 1141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0212" y="865937"/>
            <a:ext cx="1115568" cy="949056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" y="1814901"/>
            <a:ext cx="11722608" cy="13716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" y="1828617"/>
            <a:ext cx="1444752" cy="631759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69364" y="1892625"/>
            <a:ext cx="2958084" cy="503743"/>
          </a:xfrm>
          <a:prstGeom prst="roundRect">
            <a:avLst>
              <a:gd name="adj" fmla="val 9076"/>
            </a:avLst>
          </a:prstGeom>
          <a:solidFill>
            <a:srgbClr val="FEF0F2"/>
          </a:solidFill>
          <a:ln w="14287">
            <a:solidFill>
              <a:srgbClr val="E218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81935" y="1964406"/>
            <a:ext cx="238750" cy="128016"/>
          </a:xfrm>
          <a:prstGeom prst="roundRect">
            <a:avLst>
              <a:gd name="adj" fmla="val 14285"/>
            </a:avLst>
          </a:prstGeom>
          <a:solidFill>
            <a:srgbClr val="174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73168" y="1946118"/>
            <a:ext cx="2958084" cy="396758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6972" y="1946118"/>
            <a:ext cx="2958084" cy="396758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40212" y="1828617"/>
            <a:ext cx="1115568" cy="631759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3172" y="2460376"/>
            <a:ext cx="11722608" cy="13716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172" y="2474092"/>
            <a:ext cx="1444752" cy="1363645"/>
          </a:xfrm>
          <a:prstGeom prst="rect">
            <a:avLst/>
          </a:prstGeom>
          <a:solidFill>
            <a:srgbClr val="1C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77924" y="2474092"/>
            <a:ext cx="9162288" cy="1363645"/>
          </a:xfrm>
          <a:prstGeom prst="rect">
            <a:avLst/>
          </a:prstGeom>
          <a:solidFill>
            <a:srgbClr val="1C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59351" y="2556388"/>
            <a:ext cx="3666561" cy="494873"/>
          </a:xfrm>
          <a:prstGeom prst="roundRect">
            <a:avLst>
              <a:gd name="adj" fmla="val 7390"/>
            </a:avLst>
          </a:prstGeom>
          <a:solidFill>
            <a:srgbClr val="274759"/>
          </a:solidFill>
          <a:ln w="9525">
            <a:solidFill>
              <a:srgbClr val="335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59351" y="3096981"/>
            <a:ext cx="3666561" cy="494873"/>
          </a:xfrm>
          <a:prstGeom prst="roundRect">
            <a:avLst>
              <a:gd name="adj" fmla="val 7390"/>
            </a:avLst>
          </a:prstGeom>
          <a:solidFill>
            <a:srgbClr val="274759"/>
          </a:solidFill>
          <a:ln w="9525">
            <a:solidFill>
              <a:srgbClr val="335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40212" y="2474092"/>
            <a:ext cx="1115568" cy="1363645"/>
          </a:xfrm>
          <a:prstGeom prst="rect">
            <a:avLst/>
          </a:prstGeom>
          <a:solidFill>
            <a:srgbClr val="1C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" y="3837737"/>
            <a:ext cx="11722608" cy="13716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" y="3851453"/>
            <a:ext cx="1444752" cy="643646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69364" y="3915461"/>
            <a:ext cx="1756471" cy="515630"/>
          </a:xfrm>
          <a:prstGeom prst="roundRect">
            <a:avLst>
              <a:gd name="adj" fmla="val 8866"/>
            </a:avLst>
          </a:prstGeom>
          <a:solidFill>
            <a:srgbClr val="EDF2F9"/>
          </a:solidFill>
          <a:ln w="14287">
            <a:solidFill>
              <a:srgbClr val="174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54223" y="3993185"/>
            <a:ext cx="238750" cy="128016"/>
          </a:xfrm>
          <a:prstGeom prst="roundRect">
            <a:avLst>
              <a:gd name="adj" fmla="val 14285"/>
            </a:avLst>
          </a:prstGeom>
          <a:solidFill>
            <a:srgbClr val="174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71555" y="3921953"/>
            <a:ext cx="1756562" cy="502737"/>
          </a:xfrm>
          <a:prstGeom prst="roundRect">
            <a:avLst>
              <a:gd name="adj" fmla="val 9094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73929" y="3921953"/>
            <a:ext cx="1756562" cy="502737"/>
          </a:xfrm>
          <a:prstGeom prst="roundRect">
            <a:avLst>
              <a:gd name="adj" fmla="val 9094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76211" y="3921953"/>
            <a:ext cx="1756562" cy="502737"/>
          </a:xfrm>
          <a:prstGeom prst="roundRect">
            <a:avLst>
              <a:gd name="adj" fmla="val 9094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78494" y="3921953"/>
            <a:ext cx="1756562" cy="502737"/>
          </a:xfrm>
          <a:prstGeom prst="roundRect">
            <a:avLst>
              <a:gd name="adj" fmla="val 9094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40212" y="3851453"/>
            <a:ext cx="1115568" cy="643646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3172" y="4495099"/>
            <a:ext cx="11722608" cy="13716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3172" y="4508815"/>
            <a:ext cx="1444752" cy="54306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69364" y="4572823"/>
            <a:ext cx="2958084" cy="415046"/>
          </a:xfrm>
          <a:prstGeom prst="roundRect">
            <a:avLst>
              <a:gd name="adj" fmla="val 11015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773168" y="4572823"/>
            <a:ext cx="2958084" cy="415046"/>
          </a:xfrm>
          <a:prstGeom prst="roundRect">
            <a:avLst>
              <a:gd name="adj" fmla="val 11015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6972" y="4572823"/>
            <a:ext cx="2958084" cy="415046"/>
          </a:xfrm>
          <a:prstGeom prst="roundRect">
            <a:avLst>
              <a:gd name="adj" fmla="val 11015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40212" y="4508815"/>
            <a:ext cx="1115568" cy="543062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3172" y="5051877"/>
            <a:ext cx="11722608" cy="13716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3172" y="5065593"/>
            <a:ext cx="1444752" cy="926196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769364" y="5129601"/>
            <a:ext cx="4331970" cy="798180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98409" y="5211897"/>
            <a:ext cx="238750" cy="128016"/>
          </a:xfrm>
          <a:prstGeom prst="roundRect">
            <a:avLst>
              <a:gd name="adj" fmla="val 14285"/>
            </a:avLst>
          </a:prstGeom>
          <a:solidFill>
            <a:srgbClr val="174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874520" y="5381061"/>
            <a:ext cx="380299" cy="145390"/>
          </a:xfrm>
          <a:prstGeom prst="roundRect">
            <a:avLst>
              <a:gd name="adj" fmla="val 18867"/>
            </a:avLst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381829" y="5381061"/>
            <a:ext cx="325435" cy="145390"/>
          </a:xfrm>
          <a:prstGeom prst="roundRect">
            <a:avLst>
              <a:gd name="adj" fmla="val 18867"/>
            </a:avLst>
          </a:prstGeom>
          <a:solidFill>
            <a:srgbClr val="8C9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834366" y="5381061"/>
            <a:ext cx="287030" cy="145390"/>
          </a:xfrm>
          <a:prstGeom prst="roundRect">
            <a:avLst>
              <a:gd name="adj" fmla="val 18867"/>
            </a:avLst>
          </a:prstGeom>
          <a:solidFill>
            <a:srgbClr val="B89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74520" y="5563027"/>
            <a:ext cx="574243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476195" y="5563027"/>
            <a:ext cx="530352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033979" y="5563027"/>
            <a:ext cx="969264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030675" y="5563027"/>
            <a:ext cx="618134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676333" y="5563027"/>
            <a:ext cx="398678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102443" y="5563027"/>
            <a:ext cx="442661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74520" y="5720304"/>
            <a:ext cx="662117" cy="129845"/>
          </a:xfrm>
          <a:prstGeom prst="roundRect">
            <a:avLst>
              <a:gd name="adj" fmla="val 21126"/>
            </a:avLst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147054" y="5129601"/>
            <a:ext cx="2271187" cy="798180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463961" y="5129601"/>
            <a:ext cx="2271187" cy="798180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40212" y="5065593"/>
            <a:ext cx="1115568" cy="926196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3172" y="5991789"/>
            <a:ext cx="11722608" cy="13716"/>
          </a:xfrm>
          <a:prstGeom prst="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3172" y="6005505"/>
            <a:ext cx="1444752" cy="5486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656881" y="6069513"/>
            <a:ext cx="959663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752893" y="6138093"/>
            <a:ext cx="54864" cy="5486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653119" y="6069513"/>
            <a:ext cx="1128735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749131" y="6138093"/>
            <a:ext cx="54864" cy="54864"/>
          </a:xfrm>
          <a:prstGeom prst="ellipse">
            <a:avLst/>
          </a:prstGeom>
          <a:solidFill>
            <a:srgbClr val="E21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818431" y="6069513"/>
            <a:ext cx="1443106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914443" y="6138093"/>
            <a:ext cx="54864" cy="54864"/>
          </a:xfrm>
          <a:prstGeom prst="ellipse">
            <a:avLst/>
          </a:prstGeom>
          <a:solidFill>
            <a:srgbClr val="FFC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98113" y="6069513"/>
            <a:ext cx="1329995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94125" y="6138093"/>
            <a:ext cx="54864" cy="54864"/>
          </a:xfrm>
          <a:prstGeom prst="ellipse">
            <a:avLst/>
          </a:prstGeom>
          <a:solidFill>
            <a:srgbClr val="00A9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173072" y="6298113"/>
            <a:ext cx="1548994" cy="1920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7">
            <a:solidFill>
              <a:srgbClr val="EEED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269084" y="6366693"/>
            <a:ext cx="54864" cy="5486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387303" y="6330117"/>
            <a:ext cx="238750" cy="128016"/>
          </a:xfrm>
          <a:prstGeom prst="roundRect">
            <a:avLst>
              <a:gd name="adj" fmla="val 14285"/>
            </a:avLst>
          </a:prstGeom>
          <a:solidFill>
            <a:srgbClr val="174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840212" y="6005505"/>
            <a:ext cx="1115568" cy="548640"/>
          </a:xfrm>
          <a:prstGeom prst="rect">
            <a:avLst/>
          </a:prstGeom>
          <a:solidFill>
            <a:srgbClr val="F9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08925" y="2968234"/>
            <a:ext cx="172273" cy="12802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78112" y="2968234"/>
            <a:ext cx="171359" cy="12802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46385" y="2968234"/>
            <a:ext cx="171359" cy="12802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008925" y="3349813"/>
            <a:ext cx="172273" cy="12802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78112" y="3349813"/>
            <a:ext cx="171359" cy="12802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546385" y="3349813"/>
            <a:ext cx="171359" cy="12802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454067" y="3060497"/>
            <a:ext cx="12802" cy="209855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23254" y="3060497"/>
            <a:ext cx="12802" cy="209855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91527" y="3060497"/>
            <a:ext cx="12802" cy="209855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59800" y="3060497"/>
            <a:ext cx="12802" cy="209855"/>
          </a:xfrm>
          <a:prstGeom prst="rect">
            <a:avLst/>
          </a:prstGeom>
          <a:solidFill>
            <a:srgbClr val="4964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912010" y="288877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180740" y="288877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449379" y="288877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5718018" y="288877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912010" y="327035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180740" y="327035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449379" y="327035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718018" y="3270352"/>
            <a:ext cx="1096914" cy="171724"/>
          </a:xfrm>
          <a:prstGeom prst="roundRect">
            <a:avLst>
              <a:gd name="adj" fmla="val 47923"/>
            </a:avLst>
          </a:prstGeom>
          <a:solidFill>
            <a:srgbClr val="2E4D5E"/>
          </a:solidFill>
          <a:ln w="13334">
            <a:solidFill>
              <a:srgbClr val="69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_arch_fl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182880"/>
            <a:ext cx="146304" cy="164592"/>
          </a:xfrm>
          <a:prstGeom prst="rect">
            <a:avLst/>
          </a:prstGeom>
        </p:spPr>
      </p:pic>
      <p:pic>
        <p:nvPicPr>
          <p:cNvPr id="90" name="Picture 89" descr="_arch_databricks-logo-full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86" y="187452"/>
            <a:ext cx="980785" cy="155448"/>
          </a:xfrm>
          <a:prstGeom prst="rect">
            <a:avLst/>
          </a:prstGeom>
        </p:spPr>
      </p:pic>
      <p:pic>
        <p:nvPicPr>
          <p:cNvPr id="91" name="Picture 90" descr="_arch_genie-icon-full-co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2053011"/>
            <a:ext cx="182880" cy="182880"/>
          </a:xfrm>
          <a:prstGeom prst="rect">
            <a:avLst/>
          </a:prstGeom>
        </p:spPr>
      </p:pic>
      <p:pic>
        <p:nvPicPr>
          <p:cNvPr id="92" name="Picture 91" descr="_arch_ai-bi-dashboards-icon-full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2053011"/>
            <a:ext cx="182880" cy="182880"/>
          </a:xfrm>
          <a:prstGeom prst="rect">
            <a:avLst/>
          </a:prstGeom>
        </p:spPr>
      </p:pic>
      <p:pic>
        <p:nvPicPr>
          <p:cNvPr id="93" name="Picture 92" descr="_arch_unity-catalog-icon-full-col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4659691"/>
            <a:ext cx="164592" cy="164592"/>
          </a:xfrm>
          <a:prstGeom prst="rect">
            <a:avLst/>
          </a:prstGeom>
        </p:spPr>
      </p:pic>
      <p:pic>
        <p:nvPicPr>
          <p:cNvPr id="94" name="Picture 93" descr="_arch_lakeflow-icon-full-col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520" y="5207325"/>
            <a:ext cx="137160" cy="1371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19456" y="452628"/>
            <a:ext cx="9601200" cy="21031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1387" i="0" b="1">
                <a:solidFill>
                  <a:srgbClr val="0B2026"/>
                </a:solidFill>
                <a:latin typeface="Montserrat"/>
              </a:rPr>
              <a:t>One governed platform, with an ontology specific to </a:t>
            </a:r>
            <a:r>
              <a:rPr sz="1387" i="0" b="1">
                <a:solidFill>
                  <a:srgbClr val="174086"/>
                </a:solidFill>
                <a:latin typeface="Montserrat"/>
              </a:rPr>
              <a:t>Superior Plus Propane</a:t>
            </a:r>
            <a:r>
              <a:rPr sz="1387" i="0" b="1">
                <a:solidFill>
                  <a:srgbClr val="0B2026"/>
                </a:solidFill>
                <a:latin typeface="Montserrat"/>
              </a:rPr>
              <a:t> for </a:t>
            </a:r>
            <a:r>
              <a:rPr sz="1387" i="0" b="1">
                <a:solidFill>
                  <a:srgbClr val="E21836"/>
                </a:solidFill>
                <a:latin typeface="Montserrat"/>
              </a:rPr>
              <a:t>AI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67954" y="146304"/>
            <a:ext cx="1001542" cy="2331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637" i="0" b="1">
                <a:solidFill>
                  <a:srgbClr val="8A8580"/>
                </a:solidFill>
                <a:latin typeface="Open Sans"/>
              </a:rPr>
              <a:t>POWERED BY
DATABRICKS DATA + AI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31652" y="1105418"/>
            <a:ext cx="2029968" cy="14081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i="0" b="1">
                <a:solidFill>
                  <a:srgbClr val="E21836"/>
                </a:solidFill>
                <a:latin typeface="Open Sans"/>
              </a:rPr>
              <a:t>↓ </a:t>
            </a:r>
            <a:r>
              <a:rPr sz="750" i="0" b="0">
                <a:solidFill>
                  <a:srgbClr val="1B3139"/>
                </a:solidFill>
                <a:latin typeface="Open Sans"/>
              </a:rPr>
              <a:t>Churn rate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31652" y="1273668"/>
            <a:ext cx="2029968" cy="14081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i="0" b="1">
                <a:solidFill>
                  <a:srgbClr val="00A972"/>
                </a:solidFill>
                <a:latin typeface="Open Sans"/>
              </a:rPr>
              <a:t>↑ </a:t>
            </a:r>
            <a:r>
              <a:rPr sz="750" i="0" b="0">
                <a:solidFill>
                  <a:srgbClr val="1B3139"/>
                </a:solidFill>
                <a:latin typeface="Open Sans"/>
              </a:rPr>
              <a:t>Deal win rate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931652" y="1441917"/>
            <a:ext cx="2029968" cy="14081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i="0" b="1">
                <a:solidFill>
                  <a:srgbClr val="00A972"/>
                </a:solidFill>
                <a:latin typeface="Open Sans"/>
              </a:rPr>
              <a:t>↑ </a:t>
            </a:r>
            <a:r>
              <a:rPr sz="750" i="0" b="0">
                <a:solidFill>
                  <a:srgbClr val="1B3139"/>
                </a:solidFill>
                <a:latin typeface="Open Sans"/>
              </a:rPr>
              <a:t>Margin/account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931652" y="1610167"/>
            <a:ext cx="2029968" cy="14081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825" i="0" b="1">
                <a:solidFill>
                  <a:srgbClr val="00A972"/>
                </a:solidFill>
                <a:latin typeface="Open Sans"/>
              </a:rPr>
              <a:t>↑ </a:t>
            </a:r>
            <a:r>
              <a:rPr sz="750" i="0" b="0">
                <a:solidFill>
                  <a:srgbClr val="1B3139"/>
                </a:solidFill>
                <a:latin typeface="Open Sans"/>
              </a:rPr>
              <a:t>EBITDA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4632" y="171450"/>
            <a:ext cx="2683398" cy="1097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900" i="1" b="1">
                <a:solidFill>
                  <a:srgbClr val="E21836"/>
                </a:solidFill>
                <a:latin typeface="Montserrat"/>
              </a:rPr>
              <a:t>Superior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4632" y="290322"/>
            <a:ext cx="2683398" cy="6858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62" i="0" b="1">
                <a:solidFill>
                  <a:srgbClr val="004990"/>
                </a:solidFill>
                <a:latin typeface="Montserrat"/>
              </a:rPr>
              <a:t>PROPANE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3756" y="1157173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74086"/>
                </a:solidFill>
                <a:latin typeface="Open Sans"/>
              </a:rPr>
              <a:t>Use cases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3756" y="1309787"/>
            <a:ext cx="1229868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Delivered by AI agents, used by sales &amp; ops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74520" y="1217798"/>
            <a:ext cx="4191427" cy="12006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Retention-aware pricing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74520" y="1356055"/>
            <a:ext cx="4191427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Raise rates without buying back attrition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127419" y="1217798"/>
            <a:ext cx="4191427" cy="12006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Competitive win-rate recovery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27419" y="1356055"/>
            <a:ext cx="4191427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Understand why accounts switch on rate or terms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80226" y="1217798"/>
            <a:ext cx="4191427" cy="12006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Sales rep coaching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80226" y="1356055"/>
            <a:ext cx="4191427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Every call scored with follow-up actions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33125" y="1217798"/>
            <a:ext cx="4191427" cy="120061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Self-service analytics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33125" y="1356055"/>
            <a:ext cx="4191427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Any business question, answered in plain language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931652" y="929945"/>
            <a:ext cx="3127248" cy="138989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1">
                <a:solidFill>
                  <a:srgbClr val="8A8580"/>
                </a:solidFill>
                <a:latin typeface="Open Sans"/>
              </a:rPr>
              <a:t>WHAT IT MOVES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3756" y="2014698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74086"/>
                </a:solidFill>
                <a:latin typeface="Open Sans"/>
              </a:rPr>
              <a:t>Consumption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3756" y="2167311"/>
            <a:ext cx="3424428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Same data, every audience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30552" y="1961205"/>
            <a:ext cx="4686300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E21836"/>
                </a:solidFill>
                <a:latin typeface="Open Sans"/>
              </a:rPr>
              <a:t>Genie One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81935" y="1964406"/>
            <a:ext cx="2433310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25" i="0" b="1">
                <a:solidFill>
                  <a:srgbClr val="FFFFFF"/>
                </a:solidFill>
                <a:latin typeface="Open Sans"/>
              </a:rPr>
              <a:t>POC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30552" y="2113910"/>
            <a:ext cx="2491740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AI coworker — ask questions and trigger actions using natural language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34356" y="2014698"/>
            <a:ext cx="4098066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Databricks Apps &amp; AI/BI Dashboards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34356" y="2167311"/>
            <a:ext cx="4098066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Sales call coaching — executive and per-rep views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82128" y="2014698"/>
            <a:ext cx="4246565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APIs &amp; MCP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82128" y="2167311"/>
            <a:ext cx="4246565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5A5755"/>
                </a:solidFill>
                <a:latin typeface="Open Sans"/>
              </a:rPr>
              <a:t>Governed model access for other systems and agents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3756" y="2972623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E4E8EA"/>
                </a:solidFill>
                <a:latin typeface="Open Sans"/>
              </a:rPr>
              <a:t>Genie Ontology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3756" y="3125328"/>
            <a:ext cx="1229868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7B8E9A"/>
                </a:solidFill>
                <a:latin typeface="Open Sans"/>
              </a:rPr>
              <a:t>A business map that AI can navigate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50791" y="2620396"/>
            <a:ext cx="5678241" cy="1088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1">
                <a:solidFill>
                  <a:srgbClr val="FFCA37"/>
                </a:solidFill>
                <a:latin typeface="Open Sans"/>
              </a:rPr>
              <a:t>MODELED SEMANTICS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50791" y="2747498"/>
            <a:ext cx="3483681" cy="2397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712" i="0" b="0">
                <a:solidFill>
                  <a:srgbClr val="A4B1B9"/>
                </a:solidFill>
                <a:latin typeface="Open Sans"/>
              </a:rPr>
              <a:t>Unity Catalog metric views: "rate objection," "verified runout," and "at-risk account" — defined once, inherited by every agent and dashboard.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150791" y="3160989"/>
            <a:ext cx="5678241" cy="1088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1">
                <a:solidFill>
                  <a:srgbClr val="FFCA37"/>
                </a:solidFill>
                <a:latin typeface="Open Sans"/>
              </a:rPr>
              <a:t>LEARNED KNOWLEDGE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50791" y="3288091"/>
            <a:ext cx="3483681" cy="2397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712" i="0" b="0">
                <a:solidFill>
                  <a:srgbClr val="A4B1B9"/>
                </a:solidFill>
                <a:latin typeface="Open Sans"/>
              </a:rPr>
              <a:t>Pricing dynamics, seasonal patterns, and regional markets mined from transcripts, delivery records, and CRM — encoded for AI.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059351" y="3646627"/>
            <a:ext cx="5861121" cy="1088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1" b="0">
                <a:solidFill>
                  <a:srgbClr val="607784"/>
                </a:solidFill>
                <a:latin typeface="Open Sans"/>
              </a:rPr>
              <a:t>Governed in Unity Catalog — agents inherit the same access rules as people.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3756" y="4043477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74086"/>
                </a:solidFill>
                <a:latin typeface="Open Sans"/>
              </a:rPr>
              <a:t>Data products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3756" y="4196182"/>
            <a:ext cx="3424428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Built once, reused everywhere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874520" y="3993185"/>
            <a:ext cx="3740719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004990"/>
                </a:solidFill>
                <a:latin typeface="Open Sans"/>
              </a:rPr>
              <a:t>Offer Blocker Intelligence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154223" y="3993185"/>
            <a:ext cx="2433310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25" i="0" b="1">
                <a:solidFill>
                  <a:srgbClr val="FFFFFF"/>
                </a:solidFill>
                <a:latin typeface="Open Sans"/>
              </a:rPr>
              <a:t>POC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74520" y="4139489"/>
            <a:ext cx="1546159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Blocker codes, dispositions, rates, follow-up emails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76711" y="3999677"/>
            <a:ext cx="3740810" cy="11512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CX &amp; Service Recovery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76711" y="4133088"/>
            <a:ext cx="1546250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Contact frequency, resolution, satisfaction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79085" y="3999677"/>
            <a:ext cx="3740810" cy="11512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Pricing Position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79085" y="4133088"/>
            <a:ext cx="1546250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Quoted vs competitor rates, fee load by region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281367" y="3999677"/>
            <a:ext cx="3740810" cy="11512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Delivery Reliability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81367" y="4133088"/>
            <a:ext cx="1546250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On-time rate, runout risk, service-window compliance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83650" y="3999677"/>
            <a:ext cx="3740810" cy="11512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Customer Retention Decision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83650" y="4133088"/>
            <a:ext cx="1546250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Pre-joined view — raise-vs-protect per account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3756" y="4650547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74086"/>
                </a:solidFill>
                <a:latin typeface="Open Sans"/>
              </a:rPr>
              <a:t>Unified governance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3756" y="4803252"/>
            <a:ext cx="3424428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One policy plane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03120" y="4650547"/>
            <a:ext cx="3966759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Unity Catalog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03120" y="4803252"/>
            <a:ext cx="3966759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Permissions, lineage, quality, and metric views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878324" y="4650547"/>
            <a:ext cx="428231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AI Gateway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878324" y="4803252"/>
            <a:ext cx="4282318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Governed model access — guardrails, rate limits, audit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82128" y="4650547"/>
            <a:ext cx="4312310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Data stewardship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82128" y="4803252"/>
            <a:ext cx="4312310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Contracts set once; every agent and dashboard inherits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3756" y="5398892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74086"/>
                </a:solidFill>
                <a:latin typeface="Open Sans"/>
              </a:rPr>
              <a:t>Open foundation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3756" y="5551597"/>
            <a:ext cx="3424428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Open formats, no lock-in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066544" y="5207325"/>
            <a:ext cx="6124194" cy="13716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Lakeflow pipelines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98409" y="5211897"/>
            <a:ext cx="2433310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25" i="0" b="1">
                <a:solidFill>
                  <a:srgbClr val="FFFFFF"/>
                </a:solidFill>
                <a:latin typeface="Open Sans"/>
              </a:rPr>
              <a:t>POC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874520" y="5381061"/>
            <a:ext cx="2574859" cy="1453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1">
                <a:solidFill>
                  <a:srgbClr val="FFFFFF"/>
                </a:solidFill>
                <a:latin typeface="Open Sans"/>
              </a:rPr>
              <a:t>Bronze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282251" y="5399349"/>
            <a:ext cx="2266706" cy="1088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0">
                <a:solidFill>
                  <a:srgbClr val="8A8580"/>
                </a:solidFill>
                <a:latin typeface="Open Sans"/>
              </a:rPr>
              <a:t>→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381829" y="5381061"/>
            <a:ext cx="2519995" cy="1453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1">
                <a:solidFill>
                  <a:srgbClr val="FFFFFF"/>
                </a:solidFill>
                <a:latin typeface="Open Sans"/>
              </a:rPr>
              <a:t>Silver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34788" y="5399349"/>
            <a:ext cx="2266706" cy="10881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0">
                <a:solidFill>
                  <a:srgbClr val="8A8580"/>
                </a:solidFill>
                <a:latin typeface="Open Sans"/>
              </a:rPr>
              <a:t>→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834366" y="5381061"/>
            <a:ext cx="2481590" cy="14539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37" i="0" b="1">
                <a:solidFill>
                  <a:srgbClr val="FFFFFF"/>
                </a:solidFill>
                <a:latin typeface="Open Sans"/>
              </a:rPr>
              <a:t>Gold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874520" y="5563027"/>
            <a:ext cx="2768803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ai_classify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476195" y="5563027"/>
            <a:ext cx="2724912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ai_extract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3979" y="5563027"/>
            <a:ext cx="3163824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ai_analyze_sentiment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030675" y="5563027"/>
            <a:ext cx="2812694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ai_summarize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676333" y="5563027"/>
            <a:ext cx="2593238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ai_mask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02443" y="5563027"/>
            <a:ext cx="2637221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ai_query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874520" y="5720304"/>
            <a:ext cx="2856677" cy="12984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0">
                <a:solidFill>
                  <a:srgbClr val="5A5755"/>
                </a:solidFill>
                <a:latin typeface="DM Mono"/>
              </a:rPr>
              <a:t>ai_similarity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252210" y="5207325"/>
            <a:ext cx="4255435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Lakehouse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252210" y="5378318"/>
            <a:ext cx="4255435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Delta Lake + Iceberg — open formats on any cloud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69117" y="5207325"/>
            <a:ext cx="4255435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B3139"/>
                </a:solidFill>
                <a:latin typeface="Open Sans"/>
              </a:rPr>
              <a:t>Lakebase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569117" y="5378318"/>
            <a:ext cx="2060875" cy="21387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Operational Postgres for agent memory and app state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33756" y="6150072"/>
            <a:ext cx="3424428" cy="134417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87" i="0" b="1">
                <a:solidFill>
                  <a:srgbClr val="174086"/>
                </a:solidFill>
                <a:latin typeface="Open Sans"/>
              </a:rPr>
              <a:t>Sources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3756" y="6302685"/>
            <a:ext cx="3424428" cy="106985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75" i="0" b="0">
                <a:solidFill>
                  <a:srgbClr val="8A8580"/>
                </a:solidFill>
                <a:latin typeface="Open Sans"/>
              </a:rPr>
              <a:t>Unchanged systems of record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769364" y="6114318"/>
            <a:ext cx="3045501" cy="10241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1">
                <a:solidFill>
                  <a:srgbClr val="8A8580"/>
                </a:solidFill>
                <a:latin typeface="Open Sans"/>
              </a:rPr>
              <a:t>VIA AZURE SYNAPSE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839761" y="6069513"/>
            <a:ext cx="2971343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50" i="0" b="0">
                <a:solidFill>
                  <a:srgbClr val="5A5755"/>
                </a:solidFill>
                <a:latin typeface="Open Sans"/>
              </a:rPr>
              <a:t>Salesforce CRM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835999" y="6069513"/>
            <a:ext cx="3140415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50" i="0" b="0">
                <a:solidFill>
                  <a:srgbClr val="5A5755"/>
                </a:solidFill>
                <a:latin typeface="Open Sans"/>
              </a:rPr>
              <a:t>Delivery &amp; dispatch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001311" y="6069513"/>
            <a:ext cx="3454786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50" i="0" b="0">
                <a:solidFill>
                  <a:srgbClr val="5A5755"/>
                </a:solidFill>
                <a:latin typeface="Open Sans"/>
              </a:rPr>
              <a:t>Market &amp; competitor rates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480993" y="6069513"/>
            <a:ext cx="3341675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50" i="0" b="0">
                <a:solidFill>
                  <a:srgbClr val="5A5755"/>
                </a:solidFill>
                <a:latin typeface="Open Sans"/>
              </a:rPr>
              <a:t>Service &amp; billing records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769364" y="6342918"/>
            <a:ext cx="2561692" cy="102413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600" i="0" b="1">
                <a:solidFill>
                  <a:srgbClr val="8A8580"/>
                </a:solidFill>
                <a:latin typeface="Open Sans"/>
              </a:rPr>
              <a:t>VIA AWS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355952" y="6298113"/>
            <a:ext cx="3560674" cy="19202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750" i="0" b="0">
                <a:solidFill>
                  <a:srgbClr val="5A5755"/>
                </a:solidFill>
                <a:latin typeface="Open Sans"/>
              </a:rPr>
              <a:t>Call transcripts (NICE)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387303" y="6330117"/>
            <a:ext cx="2433310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00000"/>
              </a:lnSpc>
            </a:pPr>
            <a:r>
              <a:rPr sz="525" i="0" b="1">
                <a:solidFill>
                  <a:srgbClr val="FFFFFF"/>
                </a:solidFill>
                <a:latin typeface="Open Sans"/>
              </a:rPr>
              <a:t>POC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912010" y="2912913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Account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80740" y="2912913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Opportunity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449379" y="2912913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Call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718018" y="2912913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Offer Blocker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912010" y="3294492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Region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180740" y="3294492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Contract Term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449379" y="3294492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Rate Objection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718018" y="3294492"/>
            <a:ext cx="1096914" cy="1234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</a:pPr>
            <a:r>
              <a:rPr sz="712" i="0" b="0">
                <a:solidFill>
                  <a:srgbClr val="E4E8EA"/>
                </a:solidFill>
                <a:latin typeface="Open Sans"/>
              </a:rPr>
              <a:t>Competitor 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